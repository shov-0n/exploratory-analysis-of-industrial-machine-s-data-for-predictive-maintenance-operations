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74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1" r:id="rId19"/>
    <p:sldId id="282" r:id="rId20"/>
    <p:sldId id="275" r:id="rId21"/>
    <p:sldId id="279" r:id="rId22"/>
    <p:sldId id="280" r:id="rId23"/>
    <p:sldId id="285" r:id="rId24"/>
    <p:sldId id="284" r:id="rId25"/>
    <p:sldId id="288" r:id="rId26"/>
    <p:sldId id="289" r:id="rId27"/>
    <p:sldId id="291" r:id="rId28"/>
    <p:sldId id="292" r:id="rId29"/>
    <p:sldId id="293" r:id="rId30"/>
    <p:sldId id="294" r:id="rId31"/>
    <p:sldId id="29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966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4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6922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7451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9531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2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8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463711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9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FAD4D33-1A2F-4CC1-870D-5C7B6B7E8CF9}" type="datetimeFigureOut">
              <a:rPr lang="en-US" smtClean="0"/>
              <a:t>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5F6714F-D1D7-49BC-9A3D-9353BF12566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932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To Our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04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969" y="1923802"/>
            <a:ext cx="10178322" cy="14921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Exploratory Analysis of Industrial Machine Data for Predictive Maintenance Operations</a:t>
            </a:r>
          </a:p>
        </p:txBody>
      </p:sp>
    </p:spTree>
    <p:extLst>
      <p:ext uri="{BB962C8B-B14F-4D97-AF65-F5344CB8AC3E}">
        <p14:creationId xmlns:p14="http://schemas.microsoft.com/office/powerpoint/2010/main" val="310195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641373"/>
            <a:ext cx="9905999" cy="3541714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Shahriar</a:t>
            </a:r>
            <a:r>
              <a:rPr lang="en-US" sz="2400" dirty="0" smtClean="0"/>
              <a:t> </a:t>
            </a:r>
            <a:r>
              <a:rPr lang="en-US" sz="2400" dirty="0" err="1" smtClean="0"/>
              <a:t>Raz</a:t>
            </a:r>
            <a:r>
              <a:rPr lang="en-US" sz="2400" dirty="0" smtClean="0"/>
              <a:t> </a:t>
            </a:r>
            <a:r>
              <a:rPr lang="en-US" sz="2400" dirty="0" err="1" smtClean="0"/>
              <a:t>Fahim</a:t>
            </a:r>
            <a:r>
              <a:rPr lang="en-US" sz="2400" dirty="0"/>
              <a:t> – 16101157</a:t>
            </a:r>
            <a:endParaRPr lang="en-US" sz="2400" dirty="0" smtClean="0"/>
          </a:p>
          <a:p>
            <a:r>
              <a:rPr lang="en-US" sz="2400" dirty="0" smtClean="0"/>
              <a:t>K.C. </a:t>
            </a:r>
            <a:r>
              <a:rPr lang="en-US" sz="2400" dirty="0" err="1" smtClean="0"/>
              <a:t>Zamiul</a:t>
            </a:r>
            <a:r>
              <a:rPr lang="en-US" sz="2400" dirty="0" smtClean="0"/>
              <a:t> </a:t>
            </a:r>
            <a:r>
              <a:rPr lang="en-US" sz="2400" dirty="0" err="1" smtClean="0"/>
              <a:t>Alam</a:t>
            </a:r>
            <a:r>
              <a:rPr lang="en-US" sz="2400" dirty="0" smtClean="0"/>
              <a:t> </a:t>
            </a:r>
            <a:r>
              <a:rPr lang="en-US" sz="2400" dirty="0"/>
              <a:t>– 16101143</a:t>
            </a:r>
            <a:endParaRPr lang="en-US" sz="2400" dirty="0" smtClean="0"/>
          </a:p>
          <a:p>
            <a:r>
              <a:rPr lang="en-US" sz="2400" dirty="0" err="1" smtClean="0"/>
              <a:t>Sajib</a:t>
            </a:r>
            <a:r>
              <a:rPr lang="en-US" sz="2400" dirty="0" smtClean="0"/>
              <a:t> </a:t>
            </a:r>
            <a:r>
              <a:rPr lang="en-US" sz="2400" dirty="0" err="1" smtClean="0"/>
              <a:t>Mohajan</a:t>
            </a:r>
            <a:r>
              <a:rPr lang="en-US" sz="2400" dirty="0"/>
              <a:t> – 16101137</a:t>
            </a:r>
            <a:endParaRPr lang="en-US" sz="2400" dirty="0" smtClean="0"/>
          </a:p>
          <a:p>
            <a:r>
              <a:rPr lang="en-US" sz="2400" dirty="0" smtClean="0"/>
              <a:t>Faisal Ahmed </a:t>
            </a:r>
            <a:r>
              <a:rPr lang="en-US" sz="2400" dirty="0" err="1" smtClean="0"/>
              <a:t>Shovon</a:t>
            </a:r>
            <a:r>
              <a:rPr lang="en-US" sz="2400" dirty="0"/>
              <a:t> – 16101144 </a:t>
            </a: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044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Dr. </a:t>
            </a:r>
            <a:r>
              <a:rPr lang="en-US" sz="2400" dirty="0" smtClean="0"/>
              <a:t> </a:t>
            </a:r>
            <a:r>
              <a:rPr lang="en-US" sz="2400" dirty="0" err="1" smtClean="0"/>
              <a:t>Amitabha</a:t>
            </a:r>
            <a:r>
              <a:rPr lang="en-US" sz="2400" dirty="0" smtClean="0"/>
              <a:t> </a:t>
            </a:r>
            <a:r>
              <a:rPr lang="en-US" sz="2400" dirty="0" err="1"/>
              <a:t>Chakrabarty</a:t>
            </a:r>
            <a:r>
              <a:rPr lang="en-US" sz="2400" dirty="0"/>
              <a:t>, PhD 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Associate Professor, School of Data and Sciences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Department of Computer Science and Engineering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BRAC University </a:t>
            </a:r>
          </a:p>
        </p:txBody>
      </p:sp>
    </p:spTree>
    <p:extLst>
      <p:ext uri="{BB962C8B-B14F-4D97-AF65-F5344CB8AC3E}">
        <p14:creationId xmlns:p14="http://schemas.microsoft.com/office/powerpoint/2010/main" val="203589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 methods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390" y="2383055"/>
            <a:ext cx="4535378" cy="29395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83055"/>
            <a:ext cx="4545875" cy="294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7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Predictive maintenance (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pdm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bility </a:t>
            </a:r>
            <a:r>
              <a:rPr lang="en-US" dirty="0"/>
              <a:t>to </a:t>
            </a:r>
            <a:r>
              <a:rPr lang="en-US" dirty="0" smtClean="0"/>
              <a:t>predict </a:t>
            </a:r>
            <a:r>
              <a:rPr lang="en-US" dirty="0"/>
              <a:t>when equipment failure could occur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Maintenance performed based on health of equipment</a:t>
            </a:r>
          </a:p>
          <a:p>
            <a:endParaRPr lang="en-US" dirty="0"/>
          </a:p>
          <a:p>
            <a:r>
              <a:rPr lang="en-US" dirty="0" smtClean="0"/>
              <a:t>Estimate remaining useful life and degradation rate</a:t>
            </a:r>
          </a:p>
          <a:p>
            <a:endParaRPr lang="en-US" dirty="0" smtClean="0"/>
          </a:p>
          <a:p>
            <a:r>
              <a:rPr lang="en-US" dirty="0" smtClean="0"/>
              <a:t>Formal application started in the early 1990s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184" y="2286001"/>
            <a:ext cx="4549433" cy="29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1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Pdm</a:t>
            </a:r>
            <a:r>
              <a:rPr lang="en-US" spc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Operations</a:t>
            </a:r>
            <a:endParaRPr lang="en-US" spc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Equipment are monitored using condition monitoring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devices (temperature sensor, voltage sensor etc.)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Sensor captures different parameters</a:t>
            </a:r>
          </a:p>
          <a:p>
            <a:endParaRPr lang="en-US" dirty="0" smtClean="0"/>
          </a:p>
          <a:p>
            <a:r>
              <a:rPr lang="en-US" dirty="0" smtClean="0"/>
              <a:t>All data are stored systematically</a:t>
            </a:r>
          </a:p>
          <a:p>
            <a:endParaRPr lang="en-US" dirty="0" smtClean="0"/>
          </a:p>
          <a:p>
            <a:r>
              <a:rPr lang="en-US" dirty="0" smtClean="0"/>
              <a:t>Data used for analysis using predictive algorithms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651" y="2286001"/>
            <a:ext cx="3855257" cy="331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 &amp; Goals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dirty="0" smtClean="0"/>
              <a:t>valuate different approaches of data preparation</a:t>
            </a:r>
          </a:p>
          <a:p>
            <a:endParaRPr lang="en-US" dirty="0"/>
          </a:p>
          <a:p>
            <a:r>
              <a:rPr lang="en-US" dirty="0" smtClean="0"/>
              <a:t>Explore time series data analysis application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Use different machine learning models and compare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performance</a:t>
            </a:r>
          </a:p>
          <a:p>
            <a:endParaRPr lang="en-US" dirty="0"/>
          </a:p>
          <a:p>
            <a:r>
              <a:rPr lang="en-US" dirty="0" smtClean="0"/>
              <a:t>Contribute to the ongoing research and applications </a:t>
            </a:r>
            <a:endParaRPr lang="en-US" dirty="0"/>
          </a:p>
        </p:txBody>
      </p:sp>
      <p:pic>
        <p:nvPicPr>
          <p:cNvPr id="2050" name="Picture 2" descr="Vehicle Maintenance - Maintenance Management System Icon Transparent PNG -  510x511 - Free Download on Nice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736" y="2286001"/>
            <a:ext cx="4370873" cy="315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29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472" y="3021083"/>
            <a:ext cx="10178322" cy="1492132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series data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130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hydropower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turbine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Sample size = 293100</a:t>
            </a:r>
          </a:p>
          <a:p>
            <a:endParaRPr lang="en-US" dirty="0" smtClean="0"/>
          </a:p>
          <a:p>
            <a:r>
              <a:rPr lang="en-US" dirty="0" smtClean="0"/>
              <a:t>Number of Machines = 100</a:t>
            </a:r>
          </a:p>
          <a:p>
            <a:endParaRPr lang="en-US" dirty="0" smtClean="0"/>
          </a:p>
          <a:p>
            <a:r>
              <a:rPr lang="en-US" dirty="0" smtClean="0"/>
              <a:t>Number of Machine Models = 5</a:t>
            </a:r>
          </a:p>
          <a:p>
            <a:endParaRPr lang="en-US" dirty="0"/>
          </a:p>
          <a:p>
            <a:r>
              <a:rPr lang="en-US" dirty="0" smtClean="0"/>
              <a:t>Initial Sensor Data = 4 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94" y="2100939"/>
            <a:ext cx="62388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1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55" y="1738431"/>
            <a:ext cx="10449167" cy="468872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80833" y="533224"/>
            <a:ext cx="10178322" cy="149213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data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1895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874517"/>
            <a:ext cx="10570478" cy="43695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 count summary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67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604" y="3125586"/>
            <a:ext cx="10178322" cy="1492132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preparation process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253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Stationarity</a:t>
            </a:r>
            <a:r>
              <a:rPr lang="en-US" dirty="0" smtClean="0"/>
              <a:t> of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ean and variance of </a:t>
            </a:r>
            <a:r>
              <a:rPr lang="en-US" dirty="0"/>
              <a:t>the series </a:t>
            </a:r>
            <a:r>
              <a:rPr lang="en-US" dirty="0" smtClean="0"/>
              <a:t>remains </a:t>
            </a:r>
          </a:p>
          <a:p>
            <a:pPr marL="0" indent="0">
              <a:buNone/>
            </a:pPr>
            <a:r>
              <a:rPr lang="en-US" dirty="0" smtClean="0"/>
              <a:t>   constant </a:t>
            </a:r>
            <a:r>
              <a:rPr lang="en-US" dirty="0"/>
              <a:t>over a time </a:t>
            </a:r>
            <a:r>
              <a:rPr lang="en-US" dirty="0" smtClean="0"/>
              <a:t>period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Tested using ADF/KPSS </a:t>
            </a:r>
            <a:r>
              <a:rPr lang="en-US" dirty="0" smtClean="0"/>
              <a:t>test (unit root test)</a:t>
            </a:r>
          </a:p>
          <a:p>
            <a:endParaRPr lang="en-US" dirty="0" smtClean="0"/>
          </a:p>
          <a:p>
            <a:r>
              <a:rPr lang="en-US" dirty="0" smtClean="0"/>
              <a:t>Based on the p-value which accepts/rejects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Null Hypothesis (H0)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356" y="2082573"/>
            <a:ext cx="506730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7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AUtocorrelation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976100"/>
            <a:ext cx="10178322" cy="3593591"/>
          </a:xfrm>
        </p:spPr>
        <p:txBody>
          <a:bodyPr/>
          <a:lstStyle/>
          <a:p>
            <a:r>
              <a:rPr lang="en-US" dirty="0" smtClean="0"/>
              <a:t>Degree </a:t>
            </a:r>
            <a:r>
              <a:rPr lang="en-US" dirty="0"/>
              <a:t>of similarity between a </a:t>
            </a:r>
            <a:r>
              <a:rPr lang="en-US" dirty="0" smtClean="0"/>
              <a:t>time </a:t>
            </a:r>
            <a:r>
              <a:rPr lang="en-US" dirty="0"/>
              <a:t>series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and it’s lagged/previous values</a:t>
            </a:r>
          </a:p>
          <a:p>
            <a:endParaRPr lang="en-US" dirty="0"/>
          </a:p>
          <a:p>
            <a:r>
              <a:rPr lang="en-US" dirty="0" smtClean="0"/>
              <a:t>Tested using ACF and PACF plot</a:t>
            </a:r>
          </a:p>
          <a:p>
            <a:endParaRPr lang="en-US" dirty="0"/>
          </a:p>
          <a:p>
            <a:r>
              <a:rPr lang="en-US" dirty="0" smtClean="0"/>
              <a:t>Determines how much of past values need to</a:t>
            </a:r>
          </a:p>
          <a:p>
            <a:pPr marL="0" indent="0">
              <a:buNone/>
            </a:pPr>
            <a:r>
              <a:rPr lang="en-US" dirty="0" smtClean="0"/>
              <a:t>   be accounted for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81" y="1137552"/>
            <a:ext cx="4695825" cy="2428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80" y="3566427"/>
            <a:ext cx="4695825" cy="243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6755" y="6106410"/>
            <a:ext cx="371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ACF and PACF Plot of  </a:t>
            </a:r>
            <a:r>
              <a:rPr lang="en-US" b="1" dirty="0" err="1" smtClean="0"/>
              <a:t>Voltmean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3545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095" y="2770679"/>
            <a:ext cx="10178322" cy="1492132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9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954486" y="382385"/>
            <a:ext cx="5943600" cy="62687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02591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13" y="2899163"/>
            <a:ext cx="10178322" cy="1492132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106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 vector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support vectors to draw classification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boundary</a:t>
            </a:r>
          </a:p>
          <a:p>
            <a:endParaRPr lang="en-US" dirty="0" smtClean="0"/>
          </a:p>
          <a:p>
            <a:r>
              <a:rPr lang="en-US" dirty="0" smtClean="0"/>
              <a:t>Work on all type of input data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(linear, non-linear etc.)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Performs well for Binary Classification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768" y="1874517"/>
            <a:ext cx="503872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6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828069"/>
              </p:ext>
            </p:extLst>
          </p:nvPr>
        </p:nvGraphicFramePr>
        <p:xfrm>
          <a:off x="1352729" y="2603863"/>
          <a:ext cx="9820368" cy="253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504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89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640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640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37149">
                <a:tc>
                  <a:txBody>
                    <a:bodyPr/>
                    <a:lstStyle/>
                    <a:p>
                      <a:r>
                        <a:rPr lang="en-US" dirty="0" smtClean="0"/>
                        <a:t>SVM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Recall of</a:t>
                      </a:r>
                      <a:r>
                        <a:rPr lang="en-US" baseline="0" dirty="0" smtClean="0"/>
                        <a:t> True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F1 score of True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9949">
                <a:tc>
                  <a:txBody>
                    <a:bodyPr/>
                    <a:lstStyle/>
                    <a:p>
                      <a:r>
                        <a:rPr lang="en-US" dirty="0" smtClean="0"/>
                        <a:t>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98.28%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9949">
                <a:tc>
                  <a:txBody>
                    <a:bodyPr/>
                    <a:lstStyle/>
                    <a:p>
                      <a:r>
                        <a:rPr lang="en-US" dirty="0" smtClean="0"/>
                        <a:t>Polynomial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Differenced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94.07%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7149">
                <a:tc>
                  <a:txBody>
                    <a:bodyPr/>
                    <a:lstStyle/>
                    <a:p>
                      <a:r>
                        <a:rPr lang="en-US" dirty="0" smtClean="0"/>
                        <a:t>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Weighted</a:t>
                      </a:r>
                      <a:r>
                        <a:rPr lang="en-US" baseline="0" dirty="0" smtClean="0"/>
                        <a:t> Moving 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99.65%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4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33231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380931"/>
            <a:ext cx="10178322" cy="5346439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/>
              <a:t>Why Random Forest?</a:t>
            </a:r>
          </a:p>
          <a:p>
            <a:pPr marL="0" indent="0" algn="ctr">
              <a:buNone/>
            </a:pPr>
            <a:endParaRPr lang="en-US" sz="1200" b="1" dirty="0"/>
          </a:p>
          <a:p>
            <a:pPr marL="0" indent="0" algn="ctr">
              <a:buNone/>
            </a:pPr>
            <a:endParaRPr lang="en-US" sz="1200" b="1" dirty="0"/>
          </a:p>
          <a:p>
            <a:pPr algn="just"/>
            <a:r>
              <a:rPr lang="en-US" dirty="0"/>
              <a:t>Utilizes multiple decision trees</a:t>
            </a:r>
          </a:p>
          <a:p>
            <a:pPr algn="just"/>
            <a:r>
              <a:rPr lang="en-US" dirty="0"/>
              <a:t>Chooses the best possible outcome based </a:t>
            </a:r>
          </a:p>
          <a:p>
            <a:pPr marL="0" indent="0" algn="just">
              <a:buNone/>
            </a:pPr>
            <a:r>
              <a:rPr lang="en-US" dirty="0"/>
              <a:t>    on votes of majority</a:t>
            </a:r>
          </a:p>
          <a:p>
            <a:pPr algn="just"/>
            <a:r>
              <a:rPr lang="en-US" dirty="0"/>
              <a:t>Efficiently handles datasets with missing </a:t>
            </a:r>
          </a:p>
          <a:p>
            <a:pPr marL="0" indent="0" algn="just">
              <a:buNone/>
            </a:pPr>
            <a:r>
              <a:rPr lang="en-US" dirty="0"/>
              <a:t>   labels/ unclear labels</a:t>
            </a:r>
          </a:p>
          <a:p>
            <a:pPr algn="just"/>
            <a:r>
              <a:rPr lang="en-US" dirty="0"/>
              <a:t>Fits in with the needs of our 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D887720-016D-4366-A980-505FB9E7D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041" y="2385234"/>
            <a:ext cx="4926959" cy="333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93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3DD894F-06F8-4B28-822B-D6FC916E4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Preparation of The Classifier and Initial Output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Training- test split was 80% to 20%  </a:t>
            </a:r>
          </a:p>
          <a:p>
            <a:pPr algn="just"/>
            <a:r>
              <a:rPr lang="en-US" dirty="0"/>
              <a:t>Number of decision trees was 35 (n_estimator=35)</a:t>
            </a:r>
          </a:p>
          <a:p>
            <a:pPr algn="just"/>
            <a:r>
              <a:rPr lang="en-US" dirty="0"/>
              <a:t>Accuracy was 99.32%</a:t>
            </a:r>
          </a:p>
          <a:p>
            <a:pPr algn="just"/>
            <a:r>
              <a:rPr lang="en-US" dirty="0"/>
              <a:t>Utilizing weighted mean to tackle overfitting</a:t>
            </a:r>
          </a:p>
        </p:txBody>
      </p:sp>
    </p:spTree>
    <p:extLst>
      <p:ext uri="{BB962C8B-B14F-4D97-AF65-F5344CB8AC3E}">
        <p14:creationId xmlns:p14="http://schemas.microsoft.com/office/powerpoint/2010/main" val="4083907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1893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623527"/>
            <a:ext cx="10178322" cy="50198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Confusion Matrix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99.3% successful in predicting</a:t>
            </a:r>
          </a:p>
          <a:p>
            <a:pPr marL="0" indent="0" algn="just">
              <a:buNone/>
            </a:pPr>
            <a:r>
              <a:rPr lang="en-US" dirty="0"/>
              <a:t>    true negatives.</a:t>
            </a:r>
          </a:p>
          <a:p>
            <a:pPr algn="just"/>
            <a:r>
              <a:rPr lang="en-US" dirty="0"/>
              <a:t>Less efficient in predicting</a:t>
            </a:r>
          </a:p>
          <a:p>
            <a:pPr marL="0" indent="0" algn="just">
              <a:buNone/>
            </a:pPr>
            <a:r>
              <a:rPr lang="en-US" dirty="0"/>
              <a:t>    true positives.</a:t>
            </a:r>
          </a:p>
          <a:p>
            <a:pPr algn="just"/>
            <a:r>
              <a:rPr lang="en-US" dirty="0"/>
              <a:t>Imbalance of the dataset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A981088-55CB-4AD1-9C75-7B9288914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067" y="2425301"/>
            <a:ext cx="5719933" cy="382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69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282025"/>
            <a:ext cx="10178322" cy="3597568"/>
          </a:xfrm>
        </p:spPr>
        <p:txBody>
          <a:bodyPr/>
          <a:lstStyle/>
          <a:p>
            <a:r>
              <a:rPr lang="en-US" dirty="0" smtClean="0"/>
              <a:t>Predicts probability of a binary event </a:t>
            </a:r>
            <a:br>
              <a:rPr lang="en-US" dirty="0" smtClean="0"/>
            </a:br>
            <a:r>
              <a:rPr lang="en-US" dirty="0" smtClean="0"/>
              <a:t>happening</a:t>
            </a:r>
          </a:p>
          <a:p>
            <a:r>
              <a:rPr lang="en-US" dirty="0" smtClean="0"/>
              <a:t>Deals with the </a:t>
            </a:r>
            <a:r>
              <a:rPr lang="en-US" dirty="0"/>
              <a:t>issues of </a:t>
            </a:r>
            <a:r>
              <a:rPr lang="en-US" dirty="0" smtClean="0"/>
              <a:t>classification</a:t>
            </a:r>
          </a:p>
          <a:p>
            <a:r>
              <a:rPr lang="en-US" dirty="0" smtClean="0"/>
              <a:t>Uses </a:t>
            </a:r>
            <a:r>
              <a:rPr lang="en-US" dirty="0"/>
              <a:t>Sigmoid function, which has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wide </a:t>
            </a:r>
            <a:r>
              <a:rPr lang="en-US" dirty="0"/>
              <a:t>range of </a:t>
            </a:r>
            <a:r>
              <a:rPr lang="en-US" dirty="0" smtClean="0"/>
              <a:t>applications</a:t>
            </a:r>
          </a:p>
          <a:p>
            <a:r>
              <a:rPr lang="en-US" dirty="0"/>
              <a:t>Delivers discrete outputs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9" y="2345634"/>
            <a:ext cx="4549284" cy="31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9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Regression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055" y="2140270"/>
            <a:ext cx="4672945" cy="3362488"/>
          </a:xfrm>
        </p:spPr>
      </p:pic>
      <p:sp>
        <p:nvSpPr>
          <p:cNvPr id="11" name="TextBox 10"/>
          <p:cNvSpPr txBox="1"/>
          <p:nvPr/>
        </p:nvSpPr>
        <p:spPr>
          <a:xfrm>
            <a:off x="1577172" y="2140270"/>
            <a:ext cx="48320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Accuracy of 97.8%</a:t>
            </a:r>
            <a:br>
              <a:rPr lang="en-US" dirty="0" smtClean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0 true positives among 11 condition positives</a:t>
            </a:r>
            <a:br>
              <a:rPr lang="en-US" dirty="0" smtClean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Inclined towards negative values</a:t>
            </a:r>
            <a:br>
              <a:rPr lang="en-US" dirty="0" smtClean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Precision and Recall score of 0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60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Arima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Popular times series forecasting model</a:t>
            </a:r>
          </a:p>
          <a:p>
            <a:endParaRPr lang="en-US" dirty="0" smtClean="0"/>
          </a:p>
          <a:p>
            <a:r>
              <a:rPr lang="en-US" dirty="0" smtClean="0"/>
              <a:t>Shows impact of cyclic, seasonal and irregular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events on data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Can be integrated with other models for </a:t>
            </a:r>
          </a:p>
          <a:p>
            <a:pPr marL="0" indent="0">
              <a:buNone/>
            </a:pPr>
            <a:r>
              <a:rPr lang="en-US" dirty="0" smtClean="0"/>
              <a:t>   classification problems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217" y="1874517"/>
            <a:ext cx="5490499" cy="38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39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 result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978" y="1552228"/>
            <a:ext cx="4449633" cy="322199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06" y="2712310"/>
            <a:ext cx="4556387" cy="31420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4023" y="4774223"/>
            <a:ext cx="195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: 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99939" y="5917223"/>
            <a:ext cx="174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: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83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3483" y="636826"/>
            <a:ext cx="10178322" cy="1492132"/>
          </a:xfrm>
        </p:spPr>
        <p:txBody>
          <a:bodyPr/>
          <a:lstStyle/>
          <a:p>
            <a:r>
              <a:rPr lang="en-US" dirty="0" smtClean="0"/>
              <a:t>RNN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4456" y="2244253"/>
            <a:ext cx="10178322" cy="3593591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/>
              <a:t>Internal/Hidden </a:t>
            </a:r>
            <a:r>
              <a:rPr lang="en-US" dirty="0" smtClean="0"/>
              <a:t>states.</a:t>
            </a:r>
            <a:endParaRPr lang="en-US" dirty="0"/>
          </a:p>
          <a:p>
            <a:r>
              <a:rPr lang="en-US" dirty="0" smtClean="0"/>
              <a:t>Works on time series data.</a:t>
            </a:r>
          </a:p>
          <a:p>
            <a:r>
              <a:rPr lang="en-US" dirty="0" smtClean="0"/>
              <a:t>Output of a previous time step is also </a:t>
            </a:r>
            <a:br>
              <a:rPr lang="en-US" dirty="0" smtClean="0"/>
            </a:br>
            <a:r>
              <a:rPr lang="en-US" dirty="0" smtClean="0"/>
              <a:t>used in the next time step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854" y="2244253"/>
            <a:ext cx="4245919" cy="278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0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668632"/>
            <a:ext cx="10178322" cy="1492132"/>
          </a:xfrm>
        </p:spPr>
        <p:txBody>
          <a:bodyPr/>
          <a:lstStyle/>
          <a:p>
            <a:r>
              <a:rPr lang="en-US" dirty="0" smtClean="0"/>
              <a:t>LSTM Forecasting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4558" y="2262147"/>
            <a:ext cx="10178322" cy="3593591"/>
          </a:xfrm>
        </p:spPr>
        <p:txBody>
          <a:bodyPr/>
          <a:lstStyle/>
          <a:p>
            <a:r>
              <a:rPr lang="en-US" dirty="0" smtClean="0"/>
              <a:t>Sequence to sequence learning.</a:t>
            </a:r>
          </a:p>
          <a:p>
            <a:r>
              <a:rPr lang="en-US" dirty="0" smtClean="0"/>
              <a:t>Multiple layers</a:t>
            </a:r>
          </a:p>
          <a:p>
            <a:r>
              <a:rPr lang="en-US" dirty="0" smtClean="0"/>
              <a:t>Data scaling.</a:t>
            </a:r>
          </a:p>
          <a:p>
            <a:r>
              <a:rPr lang="en-US" dirty="0" smtClean="0"/>
              <a:t>Loss function(‘Adam’)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9" y="2160764"/>
            <a:ext cx="4774223" cy="34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9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Prediction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01" y="2621939"/>
            <a:ext cx="4697866" cy="235708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465" y="1874517"/>
            <a:ext cx="4738707" cy="36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9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301" y="382385"/>
            <a:ext cx="10178322" cy="1492132"/>
          </a:xfrm>
        </p:spPr>
        <p:txBody>
          <a:bodyPr/>
          <a:lstStyle/>
          <a:p>
            <a:r>
              <a:rPr lang="en-US" dirty="0" smtClean="0"/>
              <a:t>Result analysis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167" y="3538930"/>
            <a:ext cx="4283727" cy="260157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167" y="1244139"/>
            <a:ext cx="3917195" cy="16353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06" y="3538929"/>
            <a:ext cx="5187462" cy="26015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7157" y="1883309"/>
            <a:ext cx="4844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Imbalanced Dataset</a:t>
            </a:r>
            <a:br>
              <a:rPr lang="en-US" dirty="0" smtClean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1.92% True value.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23031" y="3024553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: 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29001" y="6213370"/>
            <a:ext cx="214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: 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896155" y="6213370"/>
            <a:ext cx="2277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: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39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709" y="2510123"/>
            <a:ext cx="10178322" cy="1492132"/>
          </a:xfrm>
        </p:spPr>
        <p:txBody>
          <a:bodyPr>
            <a:normAutofit/>
          </a:bodyPr>
          <a:lstStyle/>
          <a:p>
            <a:r>
              <a:rPr lang="en-US" sz="9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Thank You</a:t>
            </a:r>
            <a:endParaRPr lang="en-US" sz="9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695184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674</TotalTime>
  <Words>536</Words>
  <Application>Microsoft Office PowerPoint</Application>
  <PresentationFormat>Widescreen</PresentationFormat>
  <Paragraphs>172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Gill Sans MT</vt:lpstr>
      <vt:lpstr>Impact</vt:lpstr>
      <vt:lpstr>Badge</vt:lpstr>
      <vt:lpstr>Welcome</vt:lpstr>
      <vt:lpstr>An Exploratory Analysis of Industrial Machine Data for Predictive Maintenance Operations</vt:lpstr>
      <vt:lpstr>members</vt:lpstr>
      <vt:lpstr>supervisor</vt:lpstr>
      <vt:lpstr>Maintenance methods</vt:lpstr>
      <vt:lpstr>Predictive maintenance (pdm)</vt:lpstr>
      <vt:lpstr>Pdm Operations</vt:lpstr>
      <vt:lpstr>Motivation &amp; Goals</vt:lpstr>
      <vt:lpstr>Time series data</vt:lpstr>
      <vt:lpstr>hydropower turbine </vt:lpstr>
      <vt:lpstr>Sample data</vt:lpstr>
      <vt:lpstr>Error count summary</vt:lpstr>
      <vt:lpstr>Data preparation process</vt:lpstr>
      <vt:lpstr>Stationarity of data</vt:lpstr>
      <vt:lpstr>AUtocorrelation</vt:lpstr>
      <vt:lpstr>Workflow</vt:lpstr>
      <vt:lpstr>Algorithms</vt:lpstr>
      <vt:lpstr>Support vector machine</vt:lpstr>
      <vt:lpstr>Results</vt:lpstr>
      <vt:lpstr>Random Forest</vt:lpstr>
      <vt:lpstr>Random Forest</vt:lpstr>
      <vt:lpstr>Random Forest</vt:lpstr>
      <vt:lpstr>Logistic Regression</vt:lpstr>
      <vt:lpstr>Logistic Regression</vt:lpstr>
      <vt:lpstr>Arima</vt:lpstr>
      <vt:lpstr>Forecast result</vt:lpstr>
      <vt:lpstr>RNN</vt:lpstr>
      <vt:lpstr>LSTM Forecasting</vt:lpstr>
      <vt:lpstr>Final Prediction</vt:lpstr>
      <vt:lpstr>Result analysis</vt:lpstr>
      <vt:lpstr>       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User</dc:creator>
  <cp:lastModifiedBy>User</cp:lastModifiedBy>
  <cp:revision>76</cp:revision>
  <dcterms:created xsi:type="dcterms:W3CDTF">2021-01-05T20:54:09Z</dcterms:created>
  <dcterms:modified xsi:type="dcterms:W3CDTF">2021-01-10T13:40:20Z</dcterms:modified>
</cp:coreProperties>
</file>